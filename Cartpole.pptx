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nonymous Pro Bold" charset="1" panose="02060809030202000504"/>
      <p:regular r:id="rId22"/>
    </p:embeddedFont>
    <p:embeddedFont>
      <p:font typeface="Cousine" charset="1" panose="02070409020205020404"/>
      <p:regular r:id="rId23"/>
    </p:embeddedFont>
    <p:embeddedFont>
      <p:font typeface="Cousine Bold" charset="1" panose="02070709020205020404"/>
      <p:regular r:id="rId24"/>
    </p:embeddedFont>
    <p:embeddedFont>
      <p:font typeface="Canva Sans" charset="1" panose="020B0503030501040103"/>
      <p:regular r:id="rId25"/>
    </p:embeddedFont>
    <p:embeddedFont>
      <p:font typeface="Canva Sans Bold" charset="1" panose="020B0803030501040103"/>
      <p:regular r:id="rId26"/>
    </p:embeddedFont>
    <p:embeddedFont>
      <p:font typeface="Canva Sans Bold Italics" charset="1" panose="020B08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27.gif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3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70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550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227883" y="5926714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2"/>
                </a:lnTo>
                <a:lnTo>
                  <a:pt x="0" y="1303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354238" y="8105892"/>
            <a:ext cx="2123787" cy="586938"/>
          </a:xfrm>
          <a:custGeom>
            <a:avLst/>
            <a:gdLst/>
            <a:ahLst/>
            <a:cxnLst/>
            <a:rect r="r" b="b" t="t" l="l"/>
            <a:pathLst>
              <a:path h="586938" w="2123787">
                <a:moveTo>
                  <a:pt x="0" y="0"/>
                </a:moveTo>
                <a:lnTo>
                  <a:pt x="2123787" y="0"/>
                </a:lnTo>
                <a:lnTo>
                  <a:pt x="2123787" y="586937"/>
                </a:lnTo>
                <a:lnTo>
                  <a:pt x="0" y="5869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355757" y="2932866"/>
            <a:ext cx="3724268" cy="4730595"/>
          </a:xfrm>
          <a:custGeom>
            <a:avLst/>
            <a:gdLst/>
            <a:ahLst/>
            <a:cxnLst/>
            <a:rect r="r" b="b" t="t" l="l"/>
            <a:pathLst>
              <a:path h="4730595" w="3724268">
                <a:moveTo>
                  <a:pt x="0" y="0"/>
                </a:moveTo>
                <a:lnTo>
                  <a:pt x="3724268" y="0"/>
                </a:lnTo>
                <a:lnTo>
                  <a:pt x="3724268" y="4730595"/>
                </a:lnTo>
                <a:lnTo>
                  <a:pt x="0" y="47305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678324">
            <a:off x="10612263" y="7581011"/>
            <a:ext cx="576912" cy="777700"/>
          </a:xfrm>
          <a:custGeom>
            <a:avLst/>
            <a:gdLst/>
            <a:ahLst/>
            <a:cxnLst/>
            <a:rect r="r" b="b" t="t" l="l"/>
            <a:pathLst>
              <a:path h="777700" w="576912">
                <a:moveTo>
                  <a:pt x="0" y="0"/>
                </a:moveTo>
                <a:lnTo>
                  <a:pt x="576912" y="0"/>
                </a:lnTo>
                <a:lnTo>
                  <a:pt x="576912" y="777700"/>
                </a:lnTo>
                <a:lnTo>
                  <a:pt x="0" y="77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354552" y="2932866"/>
            <a:ext cx="774539" cy="774539"/>
          </a:xfrm>
          <a:custGeom>
            <a:avLst/>
            <a:gdLst/>
            <a:ahLst/>
            <a:cxnLst/>
            <a:rect r="r" b="b" t="t" l="l"/>
            <a:pathLst>
              <a:path h="774539" w="774539">
                <a:moveTo>
                  <a:pt x="0" y="0"/>
                </a:moveTo>
                <a:lnTo>
                  <a:pt x="774539" y="0"/>
                </a:lnTo>
                <a:lnTo>
                  <a:pt x="774539" y="774539"/>
                </a:lnTo>
                <a:lnTo>
                  <a:pt x="0" y="77453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688263" y="3695522"/>
            <a:ext cx="7455737" cy="351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7"/>
              </a:lnSpc>
            </a:pPr>
            <a:r>
              <a:rPr lang="en-US" b="true" sz="6857" spc="-233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MONTE CARLO POLICY GRADIENT OPTIMIZATION</a:t>
            </a:r>
          </a:p>
          <a:p>
            <a:pPr algn="ctr">
              <a:lnSpc>
                <a:spcPts val="685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23566" y="2915270"/>
            <a:ext cx="4464410" cy="40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3"/>
              </a:lnSpc>
            </a:pPr>
            <a:r>
              <a:rPr lang="en-US" sz="305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Intro</a:t>
            </a:r>
            <a:r>
              <a:rPr lang="en-US" sz="305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duction 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57077" y="6528860"/>
            <a:ext cx="8518109" cy="87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sz="2483" spc="28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APPLIED TO INV</a:t>
            </a:r>
            <a:r>
              <a:rPr lang="en-US" sz="2483" spc="28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ERTED PENDULUM</a:t>
            </a:r>
          </a:p>
          <a:p>
            <a:pPr algn="ctr">
              <a:lnSpc>
                <a:spcPts val="3476"/>
              </a:lnSpc>
            </a:pPr>
            <a:r>
              <a:rPr lang="en-US" sz="2483" spc="28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CARTPOLE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644177"/>
            <a:ext cx="773624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Vanilla Policy Gradient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55473" y="8369614"/>
            <a:ext cx="418634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  Qi Chen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809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10956" y="4490464"/>
            <a:ext cx="4007722" cy="2135023"/>
          </a:xfrm>
          <a:custGeom>
            <a:avLst/>
            <a:gdLst/>
            <a:ahLst/>
            <a:cxnLst/>
            <a:rect r="r" b="b" t="t" l="l"/>
            <a:pathLst>
              <a:path h="2135023" w="4007722">
                <a:moveTo>
                  <a:pt x="0" y="0"/>
                </a:moveTo>
                <a:lnTo>
                  <a:pt x="4007722" y="0"/>
                </a:lnTo>
                <a:lnTo>
                  <a:pt x="4007722" y="2135023"/>
                </a:lnTo>
                <a:lnTo>
                  <a:pt x="0" y="21350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378911" y="6625487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86508" y="3981273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01470" y="5172535"/>
            <a:ext cx="5534722" cy="90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AGENDA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72240" y="3767193"/>
            <a:ext cx="9856850" cy="520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1.Intro</a:t>
            </a: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duction to Reinforcement Learning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2.Inverted Pendulum: Background and Applications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3.Monte Carlo Policy Gradient (REINFORCE) Algorithm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4.Implementation and Results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5.Conclusion and Future Directions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6300434" cy="110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Reinforcement Learning</a:t>
            </a:r>
          </a:p>
          <a:p>
            <a:pPr algn="l">
              <a:lnSpc>
                <a:spcPts val="4462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Why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What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How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073148" y="9193555"/>
            <a:ext cx="1271608" cy="652980"/>
            <a:chOff x="0" y="0"/>
            <a:chExt cx="334909" cy="1719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114732" y="3053541"/>
            <a:ext cx="5625221" cy="5625221"/>
          </a:xfrm>
          <a:custGeom>
            <a:avLst/>
            <a:gdLst/>
            <a:ahLst/>
            <a:cxnLst/>
            <a:rect r="r" b="b" t="t" l="l"/>
            <a:pathLst>
              <a:path h="5625221" w="5625221">
                <a:moveTo>
                  <a:pt x="0" y="0"/>
                </a:moveTo>
                <a:lnTo>
                  <a:pt x="5625221" y="0"/>
                </a:lnTo>
                <a:lnTo>
                  <a:pt x="5625221" y="5625221"/>
                </a:lnTo>
                <a:lnTo>
                  <a:pt x="0" y="5625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580138" y="3567094"/>
            <a:ext cx="4694410" cy="4598114"/>
          </a:xfrm>
          <a:custGeom>
            <a:avLst/>
            <a:gdLst/>
            <a:ahLst/>
            <a:cxnLst/>
            <a:rect r="r" b="b" t="t" l="l"/>
            <a:pathLst>
              <a:path h="4598114" w="4694410">
                <a:moveTo>
                  <a:pt x="0" y="0"/>
                </a:moveTo>
                <a:lnTo>
                  <a:pt x="4694409" y="0"/>
                </a:lnTo>
                <a:lnTo>
                  <a:pt x="4694409" y="4598114"/>
                </a:lnTo>
                <a:lnTo>
                  <a:pt x="0" y="45981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84087" y="644177"/>
            <a:ext cx="6155291" cy="110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Reinforcement Learning</a:t>
            </a:r>
          </a:p>
          <a:p>
            <a:pPr algn="l">
              <a:lnSpc>
                <a:spcPts val="4462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84087" y="1585058"/>
            <a:ext cx="10874348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What is Reinforcement Learning (RL)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467478"/>
            <a:ext cx="8836873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Third Paradigm: 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RL is one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 the three basic machine learning paradigms, alongside  supervised and unsupervised learning.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45441" indent="-172721" lvl="1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Learning through Interaction: 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Unlike learning from static labels, RL trains an intelligent agent to take actions in a dynamic environment to maximize a reward signal.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Exploration-Exploitation Dilemma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Exploration: 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Trying new actions to discover more about the environment.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Exploitation: 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Using current knowledge to take the best-known action.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Finding the optimal balance between these two is the key to success.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  <a:p>
            <a:pPr algn="l" marL="345441" indent="-172721" lvl="1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</a:t>
            </a: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Framework (MDP): 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environment is typically modeled as a Markov Decision Process (MDP).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use RL: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excels in large-scale problems where we do not have an exact mathematical model of the world (like our complex Inverted Pendulum physics).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686296" y="1799205"/>
            <a:ext cx="2223268" cy="1184395"/>
          </a:xfrm>
          <a:custGeom>
            <a:avLst/>
            <a:gdLst/>
            <a:ahLst/>
            <a:cxnLst/>
            <a:rect r="r" b="b" t="t" l="l"/>
            <a:pathLst>
              <a:path h="1184395" w="2223268">
                <a:moveTo>
                  <a:pt x="0" y="0"/>
                </a:moveTo>
                <a:lnTo>
                  <a:pt x="2223268" y="0"/>
                </a:lnTo>
                <a:lnTo>
                  <a:pt x="2223268" y="1184395"/>
                </a:lnTo>
                <a:lnTo>
                  <a:pt x="0" y="11843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336807" y="680050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44174" y="1965219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1"/>
                </a:lnTo>
                <a:lnTo>
                  <a:pt x="0" y="1018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889550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840833" y="3735705"/>
            <a:ext cx="8561072" cy="4700288"/>
          </a:xfrm>
          <a:custGeom>
            <a:avLst/>
            <a:gdLst/>
            <a:ahLst/>
            <a:cxnLst/>
            <a:rect r="r" b="b" t="t" l="l"/>
            <a:pathLst>
              <a:path h="4700288" w="8561072">
                <a:moveTo>
                  <a:pt x="0" y="0"/>
                </a:moveTo>
                <a:lnTo>
                  <a:pt x="8561072" y="0"/>
                </a:lnTo>
                <a:lnTo>
                  <a:pt x="8561072" y="4700288"/>
                </a:lnTo>
                <a:lnTo>
                  <a:pt x="0" y="4700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1087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838749" y="2142579"/>
            <a:ext cx="1918361" cy="58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6"/>
              </a:lnSpc>
            </a:pPr>
            <a:r>
              <a:rPr lang="en-US" b="true" sz="2571" spc="-87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</a:t>
            </a:r>
            <a:r>
              <a:rPr lang="en-US" b="true" sz="2571" spc="-87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NVERTED PENDULUM-V1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9128073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Introduction of Inverted Pendulum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3336025"/>
            <a:ext cx="7456820" cy="666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2"/>
              </a:lnSpc>
            </a:pPr>
            <a:r>
              <a:rPr lang="en-US" sz="194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</a:t>
            </a:r>
            <a:r>
              <a:rPr lang="en-US" sz="19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：</a:t>
            </a:r>
          </a:p>
          <a:p>
            <a:pPr algn="just">
              <a:lnSpc>
                <a:spcPts val="2302"/>
              </a:lnSpc>
              <a:spcBef>
                <a:spcPct val="0"/>
              </a:spcBef>
            </a:pPr>
            <a:r>
              <a:rPr lang="en-US" sz="16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inverted pendulum is a pendul</a:t>
            </a:r>
            <a:r>
              <a:rPr lang="en-US" sz="16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um with its </a:t>
            </a:r>
            <a:r>
              <a:rPr lang="en-US" b="true" sz="16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center of mass </a:t>
            </a:r>
            <a:r>
              <a:rPr lang="en-US" sz="16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above its </a:t>
            </a:r>
            <a:r>
              <a:rPr lang="en-US" b="true" sz="16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pivot point</a:t>
            </a:r>
            <a:r>
              <a:rPr lang="en-US" sz="16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It is inherently </a:t>
            </a:r>
            <a:r>
              <a:rPr lang="en-US" b="true" sz="16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unstable</a:t>
            </a:r>
            <a:r>
              <a:rPr lang="en-US" sz="16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requires an active </a:t>
            </a:r>
            <a:r>
              <a:rPr lang="en-US" b="true" sz="16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 system</a:t>
            </a:r>
            <a:r>
              <a:rPr lang="en-US" sz="16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maintain an upright position.</a:t>
            </a:r>
          </a:p>
          <a:p>
            <a:pPr algn="just">
              <a:lnSpc>
                <a:spcPts val="2302"/>
              </a:lnSpc>
              <a:spcBef>
                <a:spcPct val="0"/>
              </a:spcBef>
            </a:pPr>
          </a:p>
          <a:p>
            <a:pPr algn="just">
              <a:lnSpc>
                <a:spcPts val="2722"/>
              </a:lnSpc>
              <a:spcBef>
                <a:spcPct val="0"/>
              </a:spcBef>
            </a:pPr>
          </a:p>
          <a:p>
            <a:pPr algn="just">
              <a:lnSpc>
                <a:spcPts val="2722"/>
              </a:lnSpc>
              <a:spcBef>
                <a:spcPct val="0"/>
              </a:spcBef>
            </a:pPr>
            <a:r>
              <a:rPr lang="en-US" b="true" sz="19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</a:t>
            </a:r>
            <a:r>
              <a:rPr lang="en-US" b="true" sz="19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19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eatur</a:t>
            </a:r>
            <a:r>
              <a:rPr lang="en-US" b="true" sz="19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es:</a:t>
            </a: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Active Balancing 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Cart and Pole Configuration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Inherent Instability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Nonlinear Dynamics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Underactuated System</a:t>
            </a:r>
          </a:p>
          <a:p>
            <a:pPr algn="l">
              <a:lnSpc>
                <a:spcPts val="2722"/>
              </a:lnSpc>
              <a:spcBef>
                <a:spcPct val="0"/>
              </a:spcBef>
            </a:pPr>
          </a:p>
          <a:p>
            <a:pPr algn="l">
              <a:lnSpc>
                <a:spcPts val="2722"/>
              </a:lnSpc>
              <a:spcBef>
                <a:spcPct val="0"/>
              </a:spcBef>
            </a:pPr>
          </a:p>
          <a:p>
            <a:pPr algn="l">
              <a:lnSpc>
                <a:spcPts val="2722"/>
              </a:lnSpc>
            </a:pPr>
          </a:p>
          <a:p>
            <a:pPr algn="just">
              <a:lnSpc>
                <a:spcPts val="2722"/>
              </a:lnSpc>
              <a:spcBef>
                <a:spcPct val="0"/>
              </a:spcBef>
            </a:pPr>
          </a:p>
          <a:p>
            <a:pPr algn="just">
              <a:lnSpc>
                <a:spcPts val="2722"/>
              </a:lnSpc>
              <a:spcBef>
                <a:spcPct val="0"/>
              </a:spcBef>
            </a:pPr>
          </a:p>
          <a:p>
            <a:pPr algn="just">
              <a:lnSpc>
                <a:spcPts val="23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70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79241" y="2557416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606855" y="5084213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19" y="0"/>
                </a:lnTo>
                <a:lnTo>
                  <a:pt x="1019519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803640" y="7890970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rcRect l="0" t="0" r="0" b="0"/>
          <a:stretch>
            <a:fillRect/>
          </a:stretch>
        </p:blipFill>
        <p:spPr>
          <a:xfrm flipH="false" flipV="false" rot="0">
            <a:off x="1353407" y="5743944"/>
            <a:ext cx="5456689" cy="2973896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546756" y="3212733"/>
            <a:ext cx="5263340" cy="138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INVERTED PENDULUM &amp; RL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38102" y="3432567"/>
            <a:ext cx="10064926" cy="441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Limitation of Classical Control: Traditional physics formulas often fail when real-world conditions like friction or wind change unexpectedly.</a:t>
            </a:r>
          </a:p>
          <a:p>
            <a:pPr algn="l">
              <a:lnSpc>
                <a:spcPts val="2175"/>
              </a:lnSpc>
            </a:pP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RL Solution (Learning Without Knowing): The agent develops a "balancing reflex" through trial and error without ever needing to understand the laws of gravity.</a:t>
            </a:r>
          </a:p>
          <a:p>
            <a:pPr algn="l">
              <a:lnSpc>
                <a:spcPts val="2175"/>
              </a:lnSpc>
            </a:pP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MDP Bridge (The Translator): This framework translates complex physical motions into four</a:t>
            </a:r>
            <a:r>
              <a:rPr lang="en-US" b="true" sz="174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 simple numbers—position, velocity, angle, and speed</a:t>
            </a: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—that the computer can process.</a:t>
            </a:r>
          </a:p>
          <a:p>
            <a:pPr algn="l">
              <a:lnSpc>
                <a:spcPts val="2175"/>
              </a:lnSpc>
            </a:pP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Problem Solved: We have successfully automated "intuition," allowing a machine to balance a pole just as a human balances a stick on their finger.</a:t>
            </a:r>
          </a:p>
          <a:p>
            <a:pPr algn="l">
              <a:lnSpc>
                <a:spcPts val="2175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644177"/>
            <a:ext cx="11324522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How does ML connect with Inverted Pendulum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414852"/>
            <a:ext cx="17470132" cy="8318902"/>
            <a:chOff x="0" y="0"/>
            <a:chExt cx="4601187" cy="21909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90986"/>
            </a:xfrm>
            <a:custGeom>
              <a:avLst/>
              <a:gdLst/>
              <a:ahLst/>
              <a:cxnLst/>
              <a:rect r="r" b="b" t="t" l="l"/>
              <a:pathLst>
                <a:path h="219098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90986"/>
                  </a:lnTo>
                  <a:lnTo>
                    <a:pt x="0" y="219098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229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2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661786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297782" y="2011572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19" y="0"/>
                </a:lnTo>
                <a:lnTo>
                  <a:pt x="1019519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860938" y="7812375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490603" y="2298770"/>
            <a:ext cx="8184116" cy="5227855"/>
          </a:xfrm>
          <a:custGeom>
            <a:avLst/>
            <a:gdLst/>
            <a:ahLst/>
            <a:cxnLst/>
            <a:rect r="r" b="b" t="t" l="l"/>
            <a:pathLst>
              <a:path h="5227855" w="8184116">
                <a:moveTo>
                  <a:pt x="0" y="0"/>
                </a:moveTo>
                <a:lnTo>
                  <a:pt x="8184116" y="0"/>
                </a:lnTo>
                <a:lnTo>
                  <a:pt x="8184116" y="5227855"/>
                </a:lnTo>
                <a:lnTo>
                  <a:pt x="0" y="522785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602" t="0" r="-4208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84087" y="721519"/>
            <a:ext cx="7349306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Mathematical Foundations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2033889"/>
            <a:ext cx="7540393" cy="47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5"/>
              </a:lnSpc>
            </a:pPr>
            <a:r>
              <a:rPr lang="en-US" b="true" sz="2768" spc="20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The Goal: Maximize Total Reward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3137" y="2885306"/>
            <a:ext cx="16257801" cy="727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18058" indent="-159029" lvl="1">
              <a:lnSpc>
                <a:spcPts val="2062"/>
              </a:lnSpc>
              <a:buFont typeface="Arial"/>
              <a:buChar char="•"/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Starting point: Random starting point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</a:t>
            </a: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s₀ ~ μ(s₀):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initial state s₀ is randomly sampled from the probability distribution μ(s₀).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</a:p>
          <a:p>
            <a:pPr algn="just" marL="318058" indent="-159029" lvl="1">
              <a:lnSpc>
                <a:spcPts val="206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1: First Action &amp; Feedback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a₀ ~ π(a₀ | s₀): 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agent chooses how to move based on its strategy  π.</a:t>
            </a:r>
          </a:p>
          <a:p>
            <a:pPr algn="just">
              <a:lnSpc>
                <a:spcPts val="1931"/>
              </a:lnSpc>
              <a:spcBef>
                <a:spcPct val="0"/>
              </a:spcBef>
            </a:pPr>
            <a:r>
              <a:rPr lang="en-US" b="true" sz="137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s₁, r₀ ~ P(s₁, r₀ | s₀, a₀)</a:t>
            </a:r>
            <a:r>
              <a:rPr lang="en-US" sz="137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physical world (Dynamics P) responds with a new state and a reward.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</a:p>
          <a:p>
            <a:pPr algn="just" marL="318058" indent="-159029" lvl="1">
              <a:lnSpc>
                <a:spcPts val="206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2: Second Action &amp; Feedback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a₁ ~ π(a₁ | s₁)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agent makes its next move based on the new observation.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s₂, r₁ ~ P(s₂, r₁ | s₁, a₁): 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world reacts again. s₂ and the reward r₁ are randomly 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sampled from the transition distribution 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</a:p>
          <a:p>
            <a:pPr algn="just" marL="318058" indent="-159029" lvl="1">
              <a:lnSpc>
                <a:spcPts val="2062"/>
              </a:lnSpc>
              <a:buFont typeface="Arial"/>
              <a:buChar char="•"/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The Process Repeats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alternating cycle continues until a terminal state </a:t>
            </a: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s_T 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 reached.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</a:p>
          <a:p>
            <a:pPr algn="just" marL="318058" indent="-159029" lvl="1">
              <a:lnSpc>
                <a:spcPts val="2062"/>
              </a:lnSpc>
              <a:buFont typeface="Arial"/>
              <a:buChar char="•"/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Step: Termination</a:t>
            </a:r>
          </a:p>
          <a:p>
            <a:pPr algn="just">
              <a:lnSpc>
                <a:spcPts val="2062"/>
              </a:lnSpc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s_T, r_{T-1} ~ P(s_T, r_{T-1} | s_{T-1}, a_{T-1}):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game ends, and we collect the final reward.</a:t>
            </a:r>
          </a:p>
          <a:p>
            <a:pPr algn="just">
              <a:lnSpc>
                <a:spcPts val="2062"/>
              </a:lnSpc>
            </a:pPr>
          </a:p>
          <a:p>
            <a:pPr algn="l">
              <a:lnSpc>
                <a:spcPts val="3322"/>
              </a:lnSpc>
            </a:pPr>
            <a:r>
              <a:rPr lang="en-US" b="true" sz="23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 Maximize Total Reward </a:t>
            </a:r>
          </a:p>
          <a:p>
            <a:pPr algn="l">
              <a:lnSpc>
                <a:spcPts val="2342"/>
              </a:lnSpc>
            </a:pPr>
            <a:r>
              <a:rPr lang="en-US" sz="16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 the best policy π that maximizes the expected cumulative reward across trajectories.</a:t>
            </a:r>
            <a:r>
              <a:rPr lang="en-US" b="true" sz="16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16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aximize E_τ[R|π], R = r₀ + r₁ + ... + r_{T-1}</a:t>
            </a:r>
          </a:p>
          <a:p>
            <a:pPr algn="just">
              <a:lnSpc>
                <a:spcPts val="1931"/>
              </a:lnSpc>
            </a:pPr>
          </a:p>
          <a:p>
            <a:pPr algn="just">
              <a:lnSpc>
                <a:spcPts val="1538"/>
              </a:lnSpc>
            </a:pPr>
          </a:p>
          <a:p>
            <a:pPr algn="just">
              <a:lnSpc>
                <a:spcPts val="1538"/>
              </a:lnSpc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8459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507224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358422" y="2845499"/>
            <a:ext cx="4340670" cy="939163"/>
          </a:xfrm>
          <a:custGeom>
            <a:avLst/>
            <a:gdLst/>
            <a:ahLst/>
            <a:cxnLst/>
            <a:rect r="r" b="b" t="t" l="l"/>
            <a:pathLst>
              <a:path h="939163" w="4340670">
                <a:moveTo>
                  <a:pt x="0" y="0"/>
                </a:moveTo>
                <a:lnTo>
                  <a:pt x="4340670" y="0"/>
                </a:lnTo>
                <a:lnTo>
                  <a:pt x="4340670" y="939163"/>
                </a:lnTo>
                <a:lnTo>
                  <a:pt x="0" y="9391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1028700" y="3076135"/>
            <a:ext cx="6949975" cy="60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6"/>
              </a:lnSpc>
            </a:pPr>
            <a:r>
              <a:rPr lang="en-US" b="true" sz="5078" spc="-17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WHA</a:t>
            </a:r>
            <a:r>
              <a:rPr lang="en-US" b="true" sz="5078" spc="-17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 IS Θ?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59080" y="2753120"/>
            <a:ext cx="1166694" cy="1132754"/>
          </a:xfrm>
          <a:custGeom>
            <a:avLst/>
            <a:gdLst/>
            <a:ahLst/>
            <a:cxnLst/>
            <a:rect r="r" b="b" t="t" l="l"/>
            <a:pathLst>
              <a:path h="1132754" w="1166694">
                <a:moveTo>
                  <a:pt x="0" y="0"/>
                </a:moveTo>
                <a:lnTo>
                  <a:pt x="1166694" y="0"/>
                </a:lnTo>
                <a:lnTo>
                  <a:pt x="1166694" y="1132754"/>
                </a:lnTo>
                <a:lnTo>
                  <a:pt x="0" y="11327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014717" y="2914210"/>
            <a:ext cx="7528225" cy="5572593"/>
          </a:xfrm>
          <a:custGeom>
            <a:avLst/>
            <a:gdLst/>
            <a:ahLst/>
            <a:cxnLst/>
            <a:rect r="r" b="b" t="t" l="l"/>
            <a:pathLst>
              <a:path h="5572593" w="7528225">
                <a:moveTo>
                  <a:pt x="0" y="0"/>
                </a:moveTo>
                <a:lnTo>
                  <a:pt x="7528224" y="0"/>
                </a:lnTo>
                <a:lnTo>
                  <a:pt x="7528224" y="5572593"/>
                </a:lnTo>
                <a:lnTo>
                  <a:pt x="0" y="55725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166" r="0" b="-1166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59080" y="4524049"/>
            <a:ext cx="7724604" cy="1551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62"/>
              </a:lnSpc>
            </a:pPr>
            <a:r>
              <a:rPr lang="en-US" sz="165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θ is every </a:t>
            </a:r>
            <a:r>
              <a:rPr lang="en-US" sz="165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single number inside our neural network. </a:t>
            </a:r>
          </a:p>
          <a:p>
            <a:pPr algn="just">
              <a:lnSpc>
                <a:spcPts val="2062"/>
              </a:lnSpc>
            </a:pPr>
            <a:r>
              <a:rPr lang="en-US" sz="165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Changing θ = changing the strategy = changing the score</a:t>
            </a:r>
          </a:p>
          <a:p>
            <a:pPr algn="just">
              <a:lnSpc>
                <a:spcPts val="2062"/>
              </a:lnSpc>
            </a:pPr>
          </a:p>
          <a:p>
            <a:pPr algn="just">
              <a:lnSpc>
                <a:spcPts val="2062"/>
              </a:lnSpc>
            </a:pPr>
            <a:r>
              <a:rPr lang="en-US" sz="165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What is π_θ(a|s)? </a:t>
            </a:r>
          </a:p>
          <a:p>
            <a:pPr algn="just">
              <a:lnSpc>
                <a:spcPts val="2062"/>
              </a:lnSpc>
            </a:pPr>
            <a:r>
              <a:rPr lang="en-US" sz="165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π_θ(a|s) = "given state s,  probability of taking action a" </a:t>
            </a:r>
          </a:p>
          <a:p>
            <a:pPr algn="just">
              <a:lnSpc>
                <a:spcPts val="2062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7075913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Mathematical Foundations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7620208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What is a Policy? π_θ(a|s)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9080" y="6323320"/>
            <a:ext cx="8864596" cy="272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6"/>
              </a:lnSpc>
            </a:pPr>
            <a:r>
              <a:rPr lang="en-US" sz="1677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CartPole Example:</a:t>
            </a:r>
            <a:r>
              <a:rPr lang="en-US" sz="167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</a:t>
            </a:r>
          </a:p>
          <a:p>
            <a:pPr algn="just">
              <a:lnSpc>
                <a:spcPts val="2096"/>
              </a:lnSpc>
            </a:pPr>
            <a:r>
              <a:rPr lang="en-US" sz="167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Input s = [</a:t>
            </a:r>
            <a:r>
              <a:rPr lang="en-US" sz="167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position, velocity, angle, speed]  = [0.1, 0.5, -0.2, 0.3]  </a:t>
            </a:r>
          </a:p>
          <a:p>
            <a:pPr algn="just">
              <a:lnSpc>
                <a:spcPts val="2096"/>
              </a:lnSpc>
            </a:pPr>
          </a:p>
          <a:p>
            <a:pPr algn="just">
              <a:lnSpc>
                <a:spcPts val="2096"/>
              </a:lnSpc>
            </a:pPr>
            <a:r>
              <a:rPr lang="en-US" sz="167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Output = [70%, 30%]  = push left 70%, push right 30%</a:t>
            </a:r>
          </a:p>
          <a:p>
            <a:pPr algn="just">
              <a:lnSpc>
                <a:spcPts val="2096"/>
              </a:lnSpc>
            </a:pPr>
          </a:p>
          <a:p>
            <a:pPr algn="just">
              <a:lnSpc>
                <a:spcPts val="2096"/>
              </a:lnSpc>
            </a:pPr>
          </a:p>
          <a:p>
            <a:pPr algn="just">
              <a:lnSpc>
                <a:spcPts val="2344"/>
              </a:lnSpc>
            </a:pPr>
            <a:r>
              <a:rPr lang="en-US" sz="1875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Question: </a:t>
            </a:r>
            <a:r>
              <a:rPr lang="en-US" sz="187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How do we find the best θ</a:t>
            </a:r>
          </a:p>
          <a:p>
            <a:pPr algn="just">
              <a:lnSpc>
                <a:spcPts val="2344"/>
              </a:lnSpc>
            </a:pPr>
          </a:p>
          <a:p>
            <a:pPr algn="just">
              <a:lnSpc>
                <a:spcPts val="2344"/>
              </a:lnSpc>
            </a:pPr>
            <a:r>
              <a:rPr lang="en-US" sz="1875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Answer: </a:t>
            </a:r>
            <a:r>
              <a:rPr lang="en-US" sz="187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Gradient Ascent  θ ← θ + α · ∇J(θ)</a:t>
            </a:r>
          </a:p>
          <a:p>
            <a:pPr algn="just">
              <a:lnSpc>
                <a:spcPts val="209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2896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508196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9746603" y="6081591"/>
            <a:ext cx="1565981" cy="2439913"/>
          </a:xfrm>
          <a:custGeom>
            <a:avLst/>
            <a:gdLst/>
            <a:ahLst/>
            <a:cxnLst/>
            <a:rect r="r" b="b" t="t" l="l"/>
            <a:pathLst>
              <a:path h="2439913" w="1565981">
                <a:moveTo>
                  <a:pt x="0" y="0"/>
                </a:moveTo>
                <a:lnTo>
                  <a:pt x="1565980" y="0"/>
                </a:lnTo>
                <a:lnTo>
                  <a:pt x="1565980" y="2439914"/>
                </a:lnTo>
                <a:lnTo>
                  <a:pt x="0" y="24399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792534" y="2086831"/>
            <a:ext cx="6236418" cy="795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</a:pPr>
          </a:p>
          <a:p>
            <a:pPr algn="ctr">
              <a:lnSpc>
                <a:spcPts val="2207"/>
              </a:lnSpc>
            </a:pPr>
          </a:p>
          <a:p>
            <a:pPr algn="ctr">
              <a:lnSpc>
                <a:spcPts val="3187"/>
              </a:lnSpc>
            </a:pPr>
            <a:r>
              <a:rPr lang="en-US" sz="227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need to compute ∇J(θ):</a:t>
            </a:r>
          </a:p>
          <a:p>
            <a:pPr algn="ct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∇J(θ) = ∇∫</a:t>
            </a:r>
            <a:r>
              <a:rPr lang="en-US" b="true" sz="22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p(τ|θ)·R(τ) dτ</a:t>
            </a: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3187"/>
              </a:lnSpc>
              <a:spcBef>
                <a:spcPct val="0"/>
              </a:spcBef>
            </a:pPr>
          </a:p>
          <a:p>
            <a:pPr algn="ct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Problems</a:t>
            </a:r>
            <a:r>
              <a:rPr lang="en-US" sz="22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</a:p>
          <a:p>
            <a:pPr algn="ctr">
              <a:lnSpc>
                <a:spcPts val="2627"/>
              </a:lnSpc>
            </a:pPr>
            <a:r>
              <a:rPr lang="en-US" b="true" sz="18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p(τ|θ) changes with θ </a:t>
            </a:r>
          </a:p>
          <a:p>
            <a:pPr algn="ctr">
              <a:lnSpc>
                <a:spcPts val="2627"/>
              </a:lnSpc>
            </a:pPr>
            <a:r>
              <a:rPr lang="en-US" b="true" sz="18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</a:t>
            </a:r>
          </a:p>
          <a:p>
            <a:pPr algn="ctr">
              <a:lnSpc>
                <a:spcPts val="2627"/>
              </a:lnSpc>
            </a:pPr>
            <a:r>
              <a:rPr lang="en-US" b="true" sz="18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infinite trajectories</a:t>
            </a:r>
          </a:p>
          <a:p>
            <a:pPr algn="ctr">
              <a:lnSpc>
                <a:spcPts val="2627"/>
              </a:lnSpc>
            </a:pPr>
            <a:r>
              <a:rPr lang="en-US" b="true" sz="18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</a:t>
            </a:r>
          </a:p>
          <a:p>
            <a:pPr algn="ctr">
              <a:lnSpc>
                <a:spcPts val="2207"/>
              </a:lnSpc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</a:p>
          <a:p>
            <a:pPr algn="ctr">
              <a:lnSpc>
                <a:spcPts val="2207"/>
              </a:lnSpc>
            </a:pPr>
          </a:p>
          <a:p>
            <a:pPr algn="ctr">
              <a:lnSpc>
                <a:spcPts val="2207"/>
              </a:lnSpc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❌ Cannot compute directly!</a:t>
            </a: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3467"/>
              </a:lnSpc>
              <a:spcBef>
                <a:spcPct val="0"/>
              </a:spcBef>
            </a:pPr>
          </a:p>
          <a:p>
            <a:pPr algn="ctr">
              <a:lnSpc>
                <a:spcPts val="3467"/>
              </a:lnSpc>
              <a:spcBef>
                <a:spcPct val="0"/>
              </a:spcBef>
            </a:pPr>
            <a:r>
              <a:rPr lang="en-US" b="true" sz="2476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Need: Log Derivative Trick</a:t>
            </a: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744174" y="2469020"/>
            <a:ext cx="8795744" cy="769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4"/>
              </a:lnSpc>
            </a:pPr>
            <a:r>
              <a:rPr lang="en-US" sz="1699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Symbol Guide:</a:t>
            </a:r>
          </a:p>
          <a:p>
            <a:pPr algn="just">
              <a:lnSpc>
                <a:spcPts val="1999"/>
              </a:lnSpc>
            </a:pPr>
          </a:p>
          <a:p>
            <a:pPr algn="just">
              <a:lnSpc>
                <a:spcPts val="1999"/>
              </a:lnSpc>
            </a:pPr>
            <a:r>
              <a:rPr lang="en-US" sz="1599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θ      = all weights &amp; biases in the neural network changing θ </a:t>
            </a:r>
          </a:p>
          <a:p>
            <a:pPr algn="just">
              <a:lnSpc>
                <a:spcPts val="1999"/>
              </a:lnSpc>
            </a:pPr>
            <a:r>
              <a:rPr lang="en-US" sz="1599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       = changing strategy = changing score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α      = learning rate (size of each update step)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J(θ)   = average score under policy θ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∇     = gradient = which direction makes J(θ) bigger?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τ(tau) = one complete game recording (trajectory) 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= (s₀,a₀,r₀, s₁,a₁,r₁, s₂,a₂,r₂, ... , s_T)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R(τ)   = total score of trajectory τ = r₀ + r₁ + r₂ + ... + r_{T-1}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p(τ|θ) = probability of trajectory τ under policy θ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      = Expectation = average value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E_τ[R(τ)] = average total score across all possible trajectories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∫      = sum over infinite possibilities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dτ     = with respect to τ (what variable we sum over)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Σᵢ     = sum over N games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Σₜ      = sum over each step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(1/N)   = take average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∫ dτ   = take every possible trajectory τ, multiply probability × score, add all results together</a:t>
            </a:r>
          </a:p>
          <a:p>
            <a:pPr algn="just">
              <a:lnSpc>
                <a:spcPts val="1750"/>
              </a:lnSpc>
            </a:pPr>
          </a:p>
          <a:p>
            <a:pPr algn="just">
              <a:lnSpc>
                <a:spcPts val="1999"/>
              </a:lnSpc>
            </a:pPr>
            <a:r>
              <a:rPr lang="en-US" sz="1599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We want to do Gradient Ascent: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θ ← θ + α · ∇J(θ)</a:t>
            </a:r>
          </a:p>
          <a:p>
            <a:pPr algn="just">
              <a:lnSpc>
                <a:spcPts val="1625"/>
              </a:lnSpc>
            </a:pPr>
          </a:p>
          <a:p>
            <a:pPr algn="just">
              <a:lnSpc>
                <a:spcPts val="1875"/>
              </a:lnSpc>
            </a:pPr>
            <a:r>
              <a:rPr lang="en-US" sz="15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J(θ) = E_τ[R(τ)] = ∫ p(τ|θ) · R(τ) dτ</a:t>
            </a:r>
          </a:p>
          <a:p>
            <a:pPr algn="just">
              <a:lnSpc>
                <a:spcPts val="1875"/>
              </a:lnSpc>
            </a:pPr>
            <a:r>
              <a:rPr lang="en-US" sz="15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average score = for every possible trajectory τ,  multiply its probability × its score,  add everything together</a:t>
            </a:r>
          </a:p>
          <a:p>
            <a:pPr algn="just">
              <a:lnSpc>
                <a:spcPts val="1750"/>
              </a:lnSpc>
            </a:pPr>
          </a:p>
          <a:p>
            <a:pPr algn="just">
              <a:lnSpc>
                <a:spcPts val="1750"/>
              </a:lnSpc>
            </a:pPr>
          </a:p>
          <a:p>
            <a:pPr algn="just">
              <a:lnSpc>
                <a:spcPts val="1750"/>
              </a:lnSpc>
            </a:pPr>
          </a:p>
          <a:p>
            <a:pPr algn="just">
              <a:lnSpc>
                <a:spcPts val="1750"/>
              </a:lnSpc>
            </a:pPr>
          </a:p>
          <a:p>
            <a:pPr algn="just">
              <a:lnSpc>
                <a:spcPts val="1750"/>
              </a:lnSpc>
            </a:pPr>
            <a:r>
              <a:rPr lang="en-US" sz="14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7248926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Mathematical Foundations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10882523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Problem: How do we calculate ∇J(θ)</a:t>
            </a:r>
          </a:p>
        </p:txBody>
      </p:sp>
      <p:grpSp>
        <p:nvGrpSpPr>
          <p:cNvPr name="Group 30" id="30"/>
          <p:cNvGrpSpPr/>
          <p:nvPr/>
        </p:nvGrpSpPr>
        <p:grpSpPr>
          <a:xfrm rot="-5400000">
            <a:off x="14522890" y="3690835"/>
            <a:ext cx="475935" cy="299771"/>
            <a:chOff x="0" y="0"/>
            <a:chExt cx="647700" cy="4079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7700" cy="407959"/>
            </a:xfrm>
            <a:custGeom>
              <a:avLst/>
              <a:gdLst/>
              <a:ahLst/>
              <a:cxnLst/>
              <a:rect r="r" b="b" t="t" l="l"/>
              <a:pathLst>
                <a:path h="407959" w="647700">
                  <a:moveTo>
                    <a:pt x="239386" y="165604"/>
                  </a:moveTo>
                  <a:lnTo>
                    <a:pt x="647700" y="165604"/>
                  </a:lnTo>
                  <a:lnTo>
                    <a:pt x="647700" y="242339"/>
                  </a:lnTo>
                  <a:lnTo>
                    <a:pt x="239373" y="242339"/>
                  </a:lnTo>
                  <a:lnTo>
                    <a:pt x="302255" y="407959"/>
                  </a:lnTo>
                  <a:lnTo>
                    <a:pt x="0" y="203979"/>
                  </a:lnTo>
                  <a:lnTo>
                    <a:pt x="302255" y="0"/>
                  </a:lnTo>
                  <a:lnTo>
                    <a:pt x="239386" y="165604"/>
                  </a:lnTo>
                  <a:close/>
                </a:path>
              </a:pathLst>
            </a:custGeom>
            <a:solidFill>
              <a:srgbClr val="649FE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20650" y="127000"/>
              <a:ext cx="527050" cy="115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5400000">
            <a:off x="14631629" y="7682901"/>
            <a:ext cx="538151" cy="327196"/>
            <a:chOff x="0" y="0"/>
            <a:chExt cx="647700" cy="3938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7700" cy="393803"/>
            </a:xfrm>
            <a:custGeom>
              <a:avLst/>
              <a:gdLst/>
              <a:ahLst/>
              <a:cxnLst/>
              <a:rect r="r" b="b" t="t" l="l"/>
              <a:pathLst>
                <a:path h="393803" w="647700">
                  <a:moveTo>
                    <a:pt x="239386" y="165513"/>
                  </a:moveTo>
                  <a:lnTo>
                    <a:pt x="647700" y="165513"/>
                  </a:lnTo>
                  <a:lnTo>
                    <a:pt x="647700" y="228278"/>
                  </a:lnTo>
                  <a:lnTo>
                    <a:pt x="239373" y="228278"/>
                  </a:lnTo>
                  <a:lnTo>
                    <a:pt x="302255" y="393803"/>
                  </a:lnTo>
                  <a:lnTo>
                    <a:pt x="0" y="196901"/>
                  </a:lnTo>
                  <a:lnTo>
                    <a:pt x="302255" y="0"/>
                  </a:lnTo>
                  <a:lnTo>
                    <a:pt x="239386" y="165513"/>
                  </a:lnTo>
                  <a:close/>
                </a:path>
              </a:pathLst>
            </a:custGeom>
            <a:solidFill>
              <a:srgbClr val="649FE3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20650" y="127000"/>
              <a:ext cx="527050" cy="101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5400000">
            <a:off x="14641667" y="6056730"/>
            <a:ext cx="538151" cy="347274"/>
            <a:chOff x="0" y="0"/>
            <a:chExt cx="647700" cy="41796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7700" cy="417967"/>
            </a:xfrm>
            <a:custGeom>
              <a:avLst/>
              <a:gdLst/>
              <a:ahLst/>
              <a:cxnLst/>
              <a:rect r="r" b="b" t="t" l="l"/>
              <a:pathLst>
                <a:path h="417967" w="647700">
                  <a:moveTo>
                    <a:pt x="239386" y="165669"/>
                  </a:moveTo>
                  <a:lnTo>
                    <a:pt x="647700" y="165669"/>
                  </a:lnTo>
                  <a:lnTo>
                    <a:pt x="647700" y="252281"/>
                  </a:lnTo>
                  <a:lnTo>
                    <a:pt x="239373" y="252281"/>
                  </a:lnTo>
                  <a:lnTo>
                    <a:pt x="302255" y="417967"/>
                  </a:lnTo>
                  <a:lnTo>
                    <a:pt x="0" y="208984"/>
                  </a:lnTo>
                  <a:lnTo>
                    <a:pt x="302255" y="0"/>
                  </a:lnTo>
                  <a:lnTo>
                    <a:pt x="239386" y="165669"/>
                  </a:lnTo>
                  <a:close/>
                </a:path>
              </a:pathLst>
            </a:custGeom>
            <a:solidFill>
              <a:srgbClr val="649FE3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20650" y="127000"/>
              <a:ext cx="527050" cy="125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100216"/>
            <a:ext cx="17645286" cy="7544923"/>
            <a:chOff x="0" y="0"/>
            <a:chExt cx="4647318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47318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47318">
                  <a:moveTo>
                    <a:pt x="0" y="0"/>
                  </a:moveTo>
                  <a:lnTo>
                    <a:pt x="4647318" y="0"/>
                  </a:lnTo>
                  <a:lnTo>
                    <a:pt x="4647318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47318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84087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71781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698447" y="7469739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913260" y="7491201"/>
            <a:ext cx="5056450" cy="946935"/>
          </a:xfrm>
          <a:custGeom>
            <a:avLst/>
            <a:gdLst/>
            <a:ahLst/>
            <a:cxnLst/>
            <a:rect r="r" b="b" t="t" l="l"/>
            <a:pathLst>
              <a:path h="946935" w="5056450">
                <a:moveTo>
                  <a:pt x="0" y="0"/>
                </a:moveTo>
                <a:lnTo>
                  <a:pt x="5056451" y="0"/>
                </a:lnTo>
                <a:lnTo>
                  <a:pt x="5056451" y="946936"/>
                </a:lnTo>
                <a:lnTo>
                  <a:pt x="0" y="946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64083" y="2810106"/>
            <a:ext cx="7819299" cy="421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105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Problems:</a:t>
            </a: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1. p(τ|θ) = p(s₀)·π_θ(a₀|s₀)·p(s₁|s₀,a₀)·π_θ(a₁|s₁)...</a:t>
            </a: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∇p(τ|θ) requires chain rule over this product</a:t>
            </a:r>
          </a:p>
          <a:p>
            <a:pPr algn="l">
              <a:lnSpc>
                <a:spcPts val="2382"/>
              </a:lnSpc>
            </a:pPr>
          </a:p>
          <a:p>
            <a:pPr algn="l" marL="411497" indent="-205748" lvl="1">
              <a:lnSpc>
                <a:spcPts val="2382"/>
              </a:lnSpc>
              <a:buAutoNum type="arabicPeriod" startAt="1"/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∫ dτ = sum over ALL possible trajectories</a:t>
            </a: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infinite trajectories, impossible to enumerate!</a:t>
            </a:r>
          </a:p>
          <a:p>
            <a:pPr algn="l">
              <a:lnSpc>
                <a:spcPts val="2382"/>
              </a:lnSpc>
            </a:pPr>
          </a:p>
          <a:p>
            <a:pPr algn="l">
              <a:lnSpc>
                <a:spcPts val="2632"/>
              </a:lnSpc>
            </a:pPr>
            <a:r>
              <a:rPr lang="en-US" sz="2105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Goal-compute ∇J(θ):</a:t>
            </a: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∇J(θ) = ∇∫ p(τ|θ)·R(τ) dτ</a:t>
            </a: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= ∫ R(τ)·∇p(τ|θ) dτ</a:t>
            </a:r>
          </a:p>
          <a:p>
            <a:pPr algn="l">
              <a:lnSpc>
                <a:spcPts val="2382"/>
              </a:lnSpc>
            </a:pP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ps: 1. R(τ) has no θ, so ∇ only acts on p(τ|θ)</a:t>
            </a: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2. ∇ and ∫ can swap order</a:t>
            </a:r>
          </a:p>
          <a:p>
            <a:pPr algn="l">
              <a:lnSpc>
                <a:spcPts val="2382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711436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Mathematical Foundations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10215878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How does Log Derivative Trick solve it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53617" y="2198256"/>
            <a:ext cx="8984345" cy="7872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755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Log Derivative Trick:</a:t>
            </a:r>
          </a:p>
          <a:p>
            <a:pPr algn="l" marL="388673" indent="-194337" lvl="1">
              <a:lnSpc>
                <a:spcPts val="2250"/>
              </a:lnSpc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Log property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</a:t>
            </a: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log(A · B · C) = log(A) + log(B) + log(C)</a:t>
            </a:r>
          </a:p>
          <a:p>
            <a:pPr algn="l">
              <a:lnSpc>
                <a:spcPts val="2250"/>
              </a:lnSpc>
            </a:pPr>
          </a:p>
          <a:p>
            <a:pPr algn="l" marL="388673" indent="-194337" lvl="1">
              <a:lnSpc>
                <a:spcPts val="2250"/>
              </a:lnSpc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Expand p(τ|θ) using log</a:t>
            </a:r>
          </a:p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   log turns multiplication into addition!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</a:t>
            </a: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log p(τ|θ) = log p(s₀)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+ log π_θ(a₀|s₀)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+ log p(s₁|s₀,a₀)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+ log π_θ(a₁|s₁)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+ log p(s₂|s₁,a₁) + ...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3. </a:t>
            </a:r>
            <a:r>
              <a:rPr lang="en-US" sz="18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Take gradient ∇_θ of each term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∇_θ log p(τ|θ) =</a:t>
            </a:r>
            <a:r>
              <a:rPr lang="en-US" sz="1800">
                <a:solidFill>
                  <a:srgbClr val="649FE3"/>
                </a:solidFill>
                <a:latin typeface="Cousine"/>
                <a:ea typeface="Cousine"/>
                <a:cs typeface="Cousine"/>
                <a:sym typeface="Cousine"/>
              </a:rPr>
              <a:t> ∇_θ log p(s₀) 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        + ∇_θ log π_θ(a₀|s₀) 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        </a:t>
            </a:r>
            <a:r>
              <a:rPr lang="en-US" sz="1800">
                <a:solidFill>
                  <a:srgbClr val="649FE3"/>
                </a:solidFill>
                <a:latin typeface="Cousine"/>
                <a:ea typeface="Cousine"/>
                <a:cs typeface="Cousine"/>
                <a:sym typeface="Cousine"/>
              </a:rPr>
              <a:t>+ ∇_θ log p(s₁|s₀,a₀)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        + ∇_θ log π_θ(a₁|s₁) + ...</a:t>
            </a:r>
          </a:p>
          <a:p>
            <a:pPr algn="l">
              <a:lnSpc>
                <a:spcPts val="2250"/>
              </a:lnSpc>
            </a:pPr>
          </a:p>
          <a:p>
            <a:pPr algn="l" marL="388673" indent="-194337" lvl="1">
              <a:lnSpc>
                <a:spcPts val="2250"/>
              </a:lnSpc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Environment terms have no θ inside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</a:t>
            </a: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their gradient = 0 → disappear!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</a:t>
            </a: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∇_θ log p(τ|θ) = ∇_θ log π_θ(a₀|s₀)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    + ∇_θ log π_θ(a₁|s₁)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    + ∇_θ log π_θ(a₂|s₂)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    + ... = Σₜ ∇_θ log π_θ(aₜ|sₜ)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4087" y="2048550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84087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84087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32975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180268" y="4108010"/>
            <a:ext cx="4184432" cy="3426004"/>
          </a:xfrm>
          <a:custGeom>
            <a:avLst/>
            <a:gdLst/>
            <a:ahLst/>
            <a:cxnLst/>
            <a:rect r="r" b="b" t="t" l="l"/>
            <a:pathLst>
              <a:path h="3426004" w="4184432">
                <a:moveTo>
                  <a:pt x="0" y="0"/>
                </a:moveTo>
                <a:lnTo>
                  <a:pt x="4184433" y="0"/>
                </a:lnTo>
                <a:lnTo>
                  <a:pt x="4184433" y="3426004"/>
                </a:lnTo>
                <a:lnTo>
                  <a:pt x="0" y="34260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752831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Mathematical Foundations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1585058"/>
            <a:ext cx="895958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Final Policy Gradient Formula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4261" y="2401743"/>
            <a:ext cx="7368224" cy="691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Putting it all t</a:t>
            </a:r>
            <a:r>
              <a:rPr lang="en-US" b="true" sz="23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ogether: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b="true" sz="1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1: Start with objective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J(θ) = E_τ[ R(τ) ] = ∫ p(τ|θ) · R(τ) dτ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b="true" sz="1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2: Log Derivative Trick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∇J(θ) = E_τ[ R(τ) · ∇log p(τ|θ) ]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b="true" sz="1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Expand log p(τ|θ)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∇log p(τ|θ) = Σₜ ∇log π_θ(aₜ|sₜ)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(environment terms cancelled out!)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b="true" sz="1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4: Final Formula(step2+step3)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∇J(θ) = E_τ[ Σₜ ∇log π_θ(aₜ|sₜ) · R(τ) ]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b="true" sz="1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5: Monte Carlo Estimate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∇J(θ) ≈ (1/N) Σᵢ Σₜ ∇log π_θ(aₜ|sₜ) · R(τᵢ)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b="true" sz="1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summary:Run N games, for each game, for each step: compute gradient × score, add everything up, divide by N.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0729516" y="2277372"/>
            <a:ext cx="9429405" cy="678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practice, replace R(τ) with Gₜ: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R(τ) = total reward of whole game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= r₀ + r₁ + r₂ + ... + r_{T-1}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Gₜ  = reward from step t onwards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= rₜ + γ·rₜ₊₁ + γ²·rₜ₊₂ + ...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Gₜ instead of R(τ)?       </a:t>
            </a: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</a:p>
          <a:p>
            <a:pPr algn="l" marL="519834" indent="-259917" lvl="1">
              <a:lnSpc>
                <a:spcPts val="3370"/>
              </a:lnSpc>
              <a:spcBef>
                <a:spcPct val="0"/>
              </a:spcBef>
              <a:buFont typeface="Arial"/>
              <a:buChar char="•"/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ction at step t should only be </a:t>
            </a: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credited for 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rewards AFTER step t not for rewards that 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already happened</a:t>
            </a:r>
          </a:p>
          <a:p>
            <a:pPr algn="l" marL="519834" indent="-259917" lvl="1">
              <a:lnSpc>
                <a:spcPts val="3370"/>
              </a:lnSpc>
              <a:spcBef>
                <a:spcPct val="0"/>
              </a:spcBef>
              <a:buFont typeface="Arial"/>
              <a:buChar char="•"/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Gₜ tells θ which actions are worth learning, 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knowing each step's impact matters!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REINFORCE Formula: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∇J(θ) ≈ (1/N) Σᵢ Σₜ ∇log π_θ(aₜ|sₜ) · Gₜ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373443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211739" y="3347393"/>
            <a:ext cx="5126262" cy="5126262"/>
          </a:xfrm>
          <a:custGeom>
            <a:avLst/>
            <a:gdLst/>
            <a:ahLst/>
            <a:cxnLst/>
            <a:rect r="r" b="b" t="t" l="l"/>
            <a:pathLst>
              <a:path h="5126262" w="5126262">
                <a:moveTo>
                  <a:pt x="0" y="0"/>
                </a:moveTo>
                <a:lnTo>
                  <a:pt x="5126262" y="0"/>
                </a:lnTo>
                <a:lnTo>
                  <a:pt x="5126262" y="5126262"/>
                </a:lnTo>
                <a:lnTo>
                  <a:pt x="0" y="51262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679863" y="3821353"/>
            <a:ext cx="4190013" cy="4178341"/>
          </a:xfrm>
          <a:custGeom>
            <a:avLst/>
            <a:gdLst/>
            <a:ahLst/>
            <a:cxnLst/>
            <a:rect r="r" b="b" t="t" l="l"/>
            <a:pathLst>
              <a:path h="4178341" w="4190013">
                <a:moveTo>
                  <a:pt x="0" y="0"/>
                </a:moveTo>
                <a:lnTo>
                  <a:pt x="4190013" y="0"/>
                </a:lnTo>
                <a:lnTo>
                  <a:pt x="4190013" y="4178341"/>
                </a:lnTo>
                <a:lnTo>
                  <a:pt x="0" y="41783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REINFORCE Algorithm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7769738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Algorithm: Step by Step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4083" y="2719584"/>
            <a:ext cx="4733999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1: Collect Episodes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Run N games using current policy π_θ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Record everything: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τ₁ = (s₀,a₀,r₀, s₁,a₁,r₁, ...)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τ₂ = (s₀,a₀,r₀, s₁,a₁,r₁, ...)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...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τ_N = (...)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54087" y="2719584"/>
            <a:ext cx="5187181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2: Compute Returns Gₜ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each trajectory, work backwards: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G_T = 0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G_t = r_t + γ · G_{t+1}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γ = 0.98 (discount factor)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Gₜ = how much reward from step t onward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3535" y="6250375"/>
            <a:ext cx="4184377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Compute Loss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L(θ) = -1/N Σᵢ Σₜ log π_θ(aₜ|sₜ) · Gₜ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negative?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PyTorch does gradient DESCENT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want gradient ASCENT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flip the sign!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80878" y="6250375"/>
            <a:ext cx="5321027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4: Update θ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optimizer.zero_grad()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loss.backward()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optimizer.step()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θ ← θ + α · ∇J(θ)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Repeat from Step 1!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919493" y="7062887"/>
            <a:ext cx="1224507" cy="1188885"/>
          </a:xfrm>
          <a:custGeom>
            <a:avLst/>
            <a:gdLst/>
            <a:ahLst/>
            <a:cxnLst/>
            <a:rect r="r" b="b" t="t" l="l"/>
            <a:pathLst>
              <a:path h="1188885" w="1224507">
                <a:moveTo>
                  <a:pt x="0" y="0"/>
                </a:moveTo>
                <a:lnTo>
                  <a:pt x="1224507" y="0"/>
                </a:lnTo>
                <a:lnTo>
                  <a:pt x="1224507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973799" y="4361273"/>
            <a:ext cx="2571225" cy="2571225"/>
          </a:xfrm>
          <a:custGeom>
            <a:avLst/>
            <a:gdLst/>
            <a:ahLst/>
            <a:cxnLst/>
            <a:rect r="r" b="b" t="t" l="l"/>
            <a:pathLst>
              <a:path h="2571225" w="2571225">
                <a:moveTo>
                  <a:pt x="0" y="0"/>
                </a:moveTo>
                <a:lnTo>
                  <a:pt x="2571224" y="0"/>
                </a:lnTo>
                <a:lnTo>
                  <a:pt x="2571224" y="2571225"/>
                </a:lnTo>
                <a:lnTo>
                  <a:pt x="0" y="2571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44174" y="3314683"/>
            <a:ext cx="6773350" cy="518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6"/>
              </a:lnSpc>
            </a:pPr>
            <a:r>
              <a:rPr lang="en-US" sz="194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Recall our goal: 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MAXIMIZE J(θ)</a:t>
            </a: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= average score </a:t>
            </a:r>
          </a:p>
          <a:p>
            <a:pPr algn="just">
              <a:lnSpc>
                <a:spcPts val="2436"/>
              </a:lnSpc>
            </a:pPr>
          </a:p>
          <a:p>
            <a:pPr algn="just">
              <a:lnSpc>
                <a:spcPts val="2436"/>
              </a:lnSpc>
            </a:pPr>
            <a:r>
              <a:rPr lang="en-US" sz="194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Gradient Ascent: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θ ← θ + α · ∇J(θ)</a:t>
            </a:r>
          </a:p>
          <a:p>
            <a:pPr algn="just">
              <a:lnSpc>
                <a:spcPts val="2436"/>
              </a:lnSpc>
            </a:pPr>
          </a:p>
          <a:p>
            <a:pPr algn="l">
              <a:lnSpc>
                <a:spcPts val="2436"/>
              </a:lnSpc>
            </a:pPr>
            <a:r>
              <a:rPr lang="en-US" sz="194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But PyTorch only does MINIMIZE: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θ ← θ - α · ∇L(θ)    (Gra</a:t>
            </a: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dient Descent)</a:t>
            </a:r>
          </a:p>
          <a:p>
            <a:pPr algn="just">
              <a:lnSpc>
                <a:spcPts val="2436"/>
              </a:lnSpc>
            </a:pPr>
          </a:p>
          <a:p>
            <a:pPr algn="just">
              <a:lnSpc>
                <a:spcPts val="2436"/>
              </a:lnSpc>
            </a:pPr>
            <a:r>
              <a:rPr lang="en-US" sz="194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Solution:</a:t>
            </a: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flip the sign!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L(θ) = -J(θ)</a:t>
            </a:r>
          </a:p>
          <a:p>
            <a:pPr algn="just">
              <a:lnSpc>
                <a:spcPts val="2436"/>
              </a:lnSpc>
            </a:pPr>
          </a:p>
          <a:p>
            <a:pPr algn="just">
              <a:lnSpc>
                <a:spcPts val="2436"/>
              </a:lnSpc>
            </a:pPr>
            <a:r>
              <a:rPr lang="en-US" sz="194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Then: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θ ← θ - α · ∇(-J(θ))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= θ + α · ∇J(θ)    </a:t>
            </a:r>
          </a:p>
          <a:p>
            <a:pPr algn="just">
              <a:lnSpc>
                <a:spcPts val="2436"/>
              </a:lnSpc>
            </a:pPr>
          </a:p>
          <a:p>
            <a:pPr algn="just">
              <a:lnSpc>
                <a:spcPts val="2436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REINFORCE Algorithm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5522559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Why Negative Loss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92283" y="3132603"/>
            <a:ext cx="6431634" cy="499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Think of it like this: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Maximizing score J(θ) =Minimizing -J(θ)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Maximize  500 points   = Minimize -500 points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PyTorch always goes downhill.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just flip the hill upside down!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↑ J(θ)                                         ↓ -J(θ)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/\                                                  \/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/  \                                                /  \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/    \                                              /    \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go UP!                                      go DOWN!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(what we want)               (what PyTorch does)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648632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297451" y="5389451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808814" y="677052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04261" y="2442166"/>
            <a:ext cx="6751389" cy="6751389"/>
          </a:xfrm>
          <a:custGeom>
            <a:avLst/>
            <a:gdLst/>
            <a:ahLst/>
            <a:cxnLst/>
            <a:rect r="r" b="b" t="t" l="l"/>
            <a:pathLst>
              <a:path h="6751389" w="6751389">
                <a:moveTo>
                  <a:pt x="0" y="0"/>
                </a:moveTo>
                <a:lnTo>
                  <a:pt x="6751389" y="0"/>
                </a:lnTo>
                <a:lnTo>
                  <a:pt x="6751389" y="6751389"/>
                </a:lnTo>
                <a:lnTo>
                  <a:pt x="0" y="67513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41738" y="2879644"/>
            <a:ext cx="5876434" cy="5876434"/>
          </a:xfrm>
          <a:custGeom>
            <a:avLst/>
            <a:gdLst/>
            <a:ahLst/>
            <a:cxnLst/>
            <a:rect r="r" b="b" t="t" l="l"/>
            <a:pathLst>
              <a:path h="5876434" w="5876434">
                <a:moveTo>
                  <a:pt x="0" y="0"/>
                </a:moveTo>
                <a:lnTo>
                  <a:pt x="5876434" y="0"/>
                </a:lnTo>
                <a:lnTo>
                  <a:pt x="5876434" y="5876434"/>
                </a:lnTo>
                <a:lnTo>
                  <a:pt x="0" y="58764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144000" y="2637275"/>
            <a:ext cx="9440816" cy="635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b="true" sz="174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What is Gₜ?</a:t>
            </a: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Gₜ = rₜ + γ·rₜ₊₁ + γ²·rₜ₊₂ + ...</a:t>
            </a: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= total reward from step t onwards</a:t>
            </a:r>
          </a:p>
          <a:p>
            <a:pPr algn="l">
              <a:lnSpc>
                <a:spcPts val="2175"/>
              </a:lnSpc>
            </a:pP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γ = discount factor = 0.98</a:t>
            </a: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rewards far in future = less certain multiply by γ each step</a:t>
            </a:r>
          </a:p>
          <a:p>
            <a:pPr algn="l">
              <a:lnSpc>
                <a:spcPts val="2175"/>
              </a:lnSpc>
            </a:pPr>
          </a:p>
          <a:p>
            <a:pPr algn="l">
              <a:lnSpc>
                <a:spcPts val="2175"/>
              </a:lnSpc>
            </a:pP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b="true" sz="174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How to compute? Work BACKWARDS:</a:t>
            </a:r>
          </a:p>
          <a:p>
            <a:pPr algn="l">
              <a:lnSpc>
                <a:spcPts val="2175"/>
              </a:lnSpc>
            </a:pP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G_T = 0</a:t>
            </a: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G_t = rₜ + γ · G_{t+1}</a:t>
            </a:r>
          </a:p>
          <a:p>
            <a:pPr algn="l">
              <a:lnSpc>
                <a:spcPts val="2175"/>
              </a:lnSpc>
            </a:pP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b="true" sz="174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Example</a:t>
            </a:r>
          </a:p>
          <a:p>
            <a:pPr algn="l">
              <a:lnSpc>
                <a:spcPts val="2175"/>
              </a:lnSpc>
            </a:pPr>
            <a:r>
              <a:rPr lang="en-US" sz="174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  </a:t>
            </a: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γ = 0.98, all rewards = +1</a:t>
            </a:r>
          </a:p>
          <a:p>
            <a:pPr algn="l">
              <a:lnSpc>
                <a:spcPts val="2175"/>
              </a:lnSpc>
            </a:pP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step 3:  G_3 = 0</a:t>
            </a: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step 2:  G_2 = 1 + 0.98 × 0.00 = 1.00</a:t>
            </a: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step 1:  G_1 = 1 + 0.98 × 1.00 = 1.98</a:t>
            </a: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step 0:  G_0 = 1 + 0.98 × 1.98 = 2.94</a:t>
            </a:r>
          </a:p>
          <a:p>
            <a:pPr algn="l">
              <a:lnSpc>
                <a:spcPts val="2175"/>
              </a:lnSpc>
            </a:pP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G_0 &gt; G_1 &gt; G_2 &gt; G_3 → earlier steps get more credit!</a:t>
            </a:r>
          </a:p>
          <a:p>
            <a:pPr algn="l">
              <a:lnSpc>
                <a:spcPts val="2175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11324522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REINFORCE Algorithm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6226009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Computing Gₜ (Return)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601187" cy="2120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464774" y="2411484"/>
            <a:ext cx="6837139" cy="6677648"/>
          </a:xfrm>
          <a:custGeom>
            <a:avLst/>
            <a:gdLst/>
            <a:ahLst/>
            <a:cxnLst/>
            <a:rect r="r" b="b" t="t" l="l"/>
            <a:pathLst>
              <a:path h="6677648" w="6837139">
                <a:moveTo>
                  <a:pt x="0" y="0"/>
                </a:moveTo>
                <a:lnTo>
                  <a:pt x="6837138" y="0"/>
                </a:lnTo>
                <a:lnTo>
                  <a:pt x="6837138" y="6677648"/>
                </a:lnTo>
                <a:lnTo>
                  <a:pt x="0" y="66776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19" r="-424" b="-319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84087" y="2411484"/>
            <a:ext cx="4705933" cy="2732016"/>
          </a:xfrm>
          <a:custGeom>
            <a:avLst/>
            <a:gdLst/>
            <a:ahLst/>
            <a:cxnLst/>
            <a:rect r="r" b="b" t="t" l="l"/>
            <a:pathLst>
              <a:path h="2732016" w="4705933">
                <a:moveTo>
                  <a:pt x="0" y="0"/>
                </a:moveTo>
                <a:lnTo>
                  <a:pt x="4705933" y="0"/>
                </a:lnTo>
                <a:lnTo>
                  <a:pt x="4705933" y="2732016"/>
                </a:lnTo>
                <a:lnTo>
                  <a:pt x="0" y="27320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779513" y="2411484"/>
            <a:ext cx="4763428" cy="4152732"/>
          </a:xfrm>
          <a:custGeom>
            <a:avLst/>
            <a:gdLst/>
            <a:ahLst/>
            <a:cxnLst/>
            <a:rect r="r" b="b" t="t" l="l"/>
            <a:pathLst>
              <a:path h="4152732" w="4763428">
                <a:moveTo>
                  <a:pt x="0" y="0"/>
                </a:moveTo>
                <a:lnTo>
                  <a:pt x="4763428" y="0"/>
                </a:lnTo>
                <a:lnTo>
                  <a:pt x="4763428" y="4152733"/>
                </a:lnTo>
                <a:lnTo>
                  <a:pt x="0" y="41527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794765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PyTorch Implementation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7947659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Code demo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44174" y="2900344"/>
            <a:ext cx="7787573" cy="5866985"/>
          </a:xfrm>
          <a:custGeom>
            <a:avLst/>
            <a:gdLst/>
            <a:ahLst/>
            <a:cxnLst/>
            <a:rect r="r" b="b" t="t" l="l"/>
            <a:pathLst>
              <a:path h="5866985" w="7787573">
                <a:moveTo>
                  <a:pt x="0" y="0"/>
                </a:moveTo>
                <a:lnTo>
                  <a:pt x="7787573" y="0"/>
                </a:lnTo>
                <a:lnTo>
                  <a:pt x="7787573" y="5866986"/>
                </a:lnTo>
                <a:lnTo>
                  <a:pt x="0" y="5866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1331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794765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Implementation &amp; Results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1585058"/>
            <a:ext cx="7947659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Training 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47046" y="3177949"/>
            <a:ext cx="8635809" cy="527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REINFORCE on CartPole-v1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1000 updates, batch size = 10, γ = 0.98, lr = 2e-4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Your paragraph text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Start (update 0):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avg score ≈ 15, policy is random, pole falls immediately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Mid (update 400):    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avg score ≈ 150，policy starts learning   to balance the pole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 (update 999):  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avg score ≈ 350-400，  policy balances well! approaching max 500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Note: score is noisy!  Monte Carlo has high variance, normal for REINFORCE!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8605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36459" y="3825267"/>
            <a:ext cx="2722706" cy="589095"/>
          </a:xfrm>
          <a:custGeom>
            <a:avLst/>
            <a:gdLst/>
            <a:ahLst/>
            <a:cxnLst/>
            <a:rect r="r" b="b" t="t" l="l"/>
            <a:pathLst>
              <a:path h="589095" w="2722706">
                <a:moveTo>
                  <a:pt x="0" y="0"/>
                </a:moveTo>
                <a:lnTo>
                  <a:pt x="2722706" y="0"/>
                </a:lnTo>
                <a:lnTo>
                  <a:pt x="2722706" y="589095"/>
                </a:lnTo>
                <a:lnTo>
                  <a:pt x="0" y="5890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-590669" y="2626364"/>
            <a:ext cx="10211437" cy="51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</a:pPr>
            <a:r>
              <a:rPr lang="en-US" b="true" sz="3800" spc="-129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WHAT WE COVERED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Conclusion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6620249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Summary &amp; Takeaways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94212" y="4847636"/>
            <a:ext cx="6226150" cy="61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Classic control </a:t>
            </a: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problem  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State: 4 numbers, Action: left or right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4261" y="4013495"/>
            <a:ext cx="2751025" cy="22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Reinforcement Learning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835698" y="4824928"/>
            <a:ext cx="2751785" cy="595386"/>
          </a:xfrm>
          <a:custGeom>
            <a:avLst/>
            <a:gdLst/>
            <a:ahLst/>
            <a:cxnLst/>
            <a:rect r="r" b="b" t="t" l="l"/>
            <a:pathLst>
              <a:path h="595386" w="2751785">
                <a:moveTo>
                  <a:pt x="0" y="0"/>
                </a:moveTo>
                <a:lnTo>
                  <a:pt x="2751785" y="0"/>
                </a:lnTo>
                <a:lnTo>
                  <a:pt x="2751785" y="595386"/>
                </a:lnTo>
                <a:lnTo>
                  <a:pt x="0" y="595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2" id="32"/>
          <p:cNvSpPr txBox="true"/>
          <p:nvPr/>
        </p:nvSpPr>
        <p:spPr>
          <a:xfrm rot="0">
            <a:off x="836459" y="5019447"/>
            <a:ext cx="2751025" cy="22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CartPole-v1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835698" y="6173017"/>
            <a:ext cx="2847906" cy="616183"/>
          </a:xfrm>
          <a:custGeom>
            <a:avLst/>
            <a:gdLst/>
            <a:ahLst/>
            <a:cxnLst/>
            <a:rect r="r" b="b" t="t" l="l"/>
            <a:pathLst>
              <a:path h="616183" w="2847906">
                <a:moveTo>
                  <a:pt x="0" y="0"/>
                </a:moveTo>
                <a:lnTo>
                  <a:pt x="2847906" y="0"/>
                </a:lnTo>
                <a:lnTo>
                  <a:pt x="2847906" y="616183"/>
                </a:lnTo>
                <a:lnTo>
                  <a:pt x="0" y="6161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4" id="34"/>
          <p:cNvSpPr txBox="true"/>
          <p:nvPr/>
        </p:nvSpPr>
        <p:spPr>
          <a:xfrm rot="0">
            <a:off x="904261" y="6244454"/>
            <a:ext cx="2751025" cy="44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Mathematical Mathematical Derivation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333410" y="2969817"/>
            <a:ext cx="523211" cy="890917"/>
          </a:xfrm>
          <a:custGeom>
            <a:avLst/>
            <a:gdLst/>
            <a:ahLst/>
            <a:cxnLst/>
            <a:rect r="r" b="b" t="t" l="l"/>
            <a:pathLst>
              <a:path h="890917" w="523211">
                <a:moveTo>
                  <a:pt x="0" y="0"/>
                </a:moveTo>
                <a:lnTo>
                  <a:pt x="523211" y="0"/>
                </a:lnTo>
                <a:lnTo>
                  <a:pt x="523211" y="890917"/>
                </a:lnTo>
                <a:lnTo>
                  <a:pt x="0" y="890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894212" y="3822634"/>
            <a:ext cx="594025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Your Agent learns by interacting with environment 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Goal: maximize cumulative reward text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894212" y="5967076"/>
            <a:ext cx="6439198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J(θ) = E_τ[R(τ)] 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og Derivative Trick → ∇J(θ) = E_τ[Σₜ ∇log π_θ(aₜ|sₜ) · Gₜ] 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Environment terms cancel out!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883758" y="7304820"/>
            <a:ext cx="2751785" cy="595386"/>
          </a:xfrm>
          <a:custGeom>
            <a:avLst/>
            <a:gdLst/>
            <a:ahLst/>
            <a:cxnLst/>
            <a:rect r="r" b="b" t="t" l="l"/>
            <a:pathLst>
              <a:path h="595386" w="2751785">
                <a:moveTo>
                  <a:pt x="0" y="0"/>
                </a:moveTo>
                <a:lnTo>
                  <a:pt x="2751786" y="0"/>
                </a:lnTo>
                <a:lnTo>
                  <a:pt x="2751786" y="595386"/>
                </a:lnTo>
                <a:lnTo>
                  <a:pt x="0" y="595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9" id="39"/>
          <p:cNvSpPr txBox="true"/>
          <p:nvPr/>
        </p:nvSpPr>
        <p:spPr>
          <a:xfrm rot="0">
            <a:off x="904261" y="7467893"/>
            <a:ext cx="275178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REINFORCE Algorithm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894212" y="7218655"/>
            <a:ext cx="697996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ollect episodes → Compute Gₜ → Compute Loss → Update θ 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Repeat until policy is good!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883758" y="8355549"/>
            <a:ext cx="2751785" cy="595386"/>
          </a:xfrm>
          <a:custGeom>
            <a:avLst/>
            <a:gdLst/>
            <a:ahLst/>
            <a:cxnLst/>
            <a:rect r="r" b="b" t="t" l="l"/>
            <a:pathLst>
              <a:path h="595386" w="2751785">
                <a:moveTo>
                  <a:pt x="0" y="0"/>
                </a:moveTo>
                <a:lnTo>
                  <a:pt x="2751786" y="0"/>
                </a:lnTo>
                <a:lnTo>
                  <a:pt x="2751786" y="595387"/>
                </a:lnTo>
                <a:lnTo>
                  <a:pt x="0" y="5953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2" id="42"/>
          <p:cNvSpPr txBox="true"/>
          <p:nvPr/>
        </p:nvSpPr>
        <p:spPr>
          <a:xfrm rot="0">
            <a:off x="744174" y="8490756"/>
            <a:ext cx="275178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894212" y="8294346"/>
            <a:ext cx="622615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ore improved from ~15 to ~400 over 1000 updates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REINFORCE works! But high variance is expected.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755201" y="2912761"/>
            <a:ext cx="10211437" cy="99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</a:pPr>
            <a:r>
              <a:rPr lang="en-US" b="true" sz="3800" spc="-129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KEY TAKEAWAYS</a:t>
            </a:r>
          </a:p>
          <a:p>
            <a:pPr algn="ctr">
              <a:lnSpc>
                <a:spcPts val="3800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1083727" y="4337343"/>
            <a:ext cx="6003950" cy="38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olicy gradient directly optimizes  the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expected reward </a:t>
            </a:r>
          </a:p>
          <a:p>
            <a:pPr algn="l">
              <a:lnSpc>
                <a:spcPts val="2799"/>
              </a:lnSpc>
            </a:pP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 Derivative Trick converts  an intractable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gradient into  a sampleable expectation </a:t>
            </a:r>
          </a:p>
          <a:p>
            <a:pPr algn="l">
              <a:lnSpc>
                <a:spcPts val="2799"/>
              </a:lnSpc>
            </a:pP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Monte Carlo estimation lets us  learn from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real game experience </a:t>
            </a:r>
          </a:p>
          <a:p>
            <a:pPr algn="l">
              <a:lnSpc>
                <a:spcPts val="2799"/>
              </a:lnSpc>
            </a:pP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Negative loss = gradient ascent  via PyTorch's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gradient descent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DAHDGcMxnYc</dc:identifier>
  <dcterms:modified xsi:type="dcterms:W3CDTF">2011-08-01T06:04:30Z</dcterms:modified>
  <cp:revision>1</cp:revision>
  <dc:title>Presented by Olivia Wilson</dc:title>
</cp:coreProperties>
</file>